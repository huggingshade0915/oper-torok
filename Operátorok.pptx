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8" r:id="rId3"/>
    <p:sldId id="257" r:id="rId4"/>
    <p:sldId id="262" r:id="rId5"/>
    <p:sldId id="259" r:id="rId6"/>
    <p:sldId id="263" r:id="rId7"/>
    <p:sldId id="260" r:id="rId8"/>
    <p:sldId id="264" r:id="rId9"/>
    <p:sldId id="261" r:id="rId10"/>
    <p:sldId id="265" r:id="rId11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00"/>
    <a:srgbClr val="FFFF66"/>
    <a:srgbClr val="000003"/>
    <a:srgbClr val="FDE5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63DD460-3841-4687-8515-3B36945CEE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C880E719-D8DE-44D4-9AAE-7245A9903B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02331B2-096A-49DA-B462-3074571FF6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B3CA0-2F5A-4BA3-86AF-AC97AE9DB680}" type="datetimeFigureOut">
              <a:rPr lang="hu-HU" smtClean="0"/>
              <a:t>2026. 10. 08.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069C72C-F795-46AA-A47A-9740C1119A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95ED7ED-51C3-4FCB-8A23-8CA276123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C797F1-51B4-4669-8932-931C5B99BFF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906014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90D58BF-9187-425B-A3B8-C27F010A9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E088452-9B00-44A3-A4DE-8D2F692322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8C02BC34-90AE-4318-BD30-31EE84A82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B3CA0-2F5A-4BA3-86AF-AC97AE9DB680}" type="datetimeFigureOut">
              <a:rPr lang="hu-HU" smtClean="0"/>
              <a:t>2026. 10. 08.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DFF09A00-8EA1-46F9-B7C1-A11F1AF0F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EC2BC51-92D5-49F2-BF5E-32B149379C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C797F1-51B4-4669-8932-931C5B99BFF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24915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9A89D92-1786-466F-8832-FF139248E9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97DAE5A2-E53C-4CE9-A955-523AE60433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96D5151-DBCB-43AF-A013-A3E0B09FC0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B3CA0-2F5A-4BA3-86AF-AC97AE9DB680}" type="datetimeFigureOut">
              <a:rPr lang="hu-HU" smtClean="0"/>
              <a:t>2026. 10. 08.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851F35B-0483-4F0D-9AFB-421A9EDAE1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1F11E2F6-6544-4665-92AA-11037D2BD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C797F1-51B4-4669-8932-931C5B99BFF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40988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0B94D0D-A51F-43E6-BD01-BB1A5D2FC6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A1B6E4A-114F-4545-81AA-0FAE62FBF3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DF130191-536A-4830-84AC-06896C88C8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085B80B0-2233-430A-AD57-6A9E311B4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B3CA0-2F5A-4BA3-86AF-AC97AE9DB680}" type="datetimeFigureOut">
              <a:rPr lang="hu-HU" smtClean="0"/>
              <a:t>2026. 10. 08.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FC9A7966-D7B8-4333-92C7-72C8F1147C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F5A911EF-4781-4E3D-B7DB-6B2840AC69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C797F1-51B4-4669-8932-931C5B99BFF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097947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6892D06-4601-44B3-996C-7892D92925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39702189-7F45-4C78-A187-5869411703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0C558BAA-E736-4F55-AA6A-25B9086466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AE1B40EA-3D81-4061-B0D4-E14B3997F1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3B997C7B-18BE-4926-9C8F-F3E2CDEF89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8694ABF0-51A7-4C7A-8321-B3DBB5A7F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B3CA0-2F5A-4BA3-86AF-AC97AE9DB680}" type="datetimeFigureOut">
              <a:rPr lang="hu-HU" smtClean="0"/>
              <a:t>2026. 10. 08.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7AC168F2-AB66-4B91-9344-FB8449893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42AC191B-3F3F-4FF6-9631-566BCC8526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C797F1-51B4-4669-8932-931C5B99BFF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669756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73CDA8D-F058-4837-BFDF-0E1C4F214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62107B46-52A6-4ECC-9270-46568B6D6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B3CA0-2F5A-4BA3-86AF-AC97AE9DB680}" type="datetimeFigureOut">
              <a:rPr lang="hu-HU" smtClean="0"/>
              <a:t>2026. 10. 08.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964AAD88-F046-4032-9CC2-A46E5F577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CDCA10BA-FC63-4C98-8FC1-B7779174A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C797F1-51B4-4669-8932-931C5B99BFF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191535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6901B899-1DDF-4489-94A3-369EF7EB83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B3CA0-2F5A-4BA3-86AF-AC97AE9DB680}" type="datetimeFigureOut">
              <a:rPr lang="hu-HU" smtClean="0"/>
              <a:t>2026. 10. 08.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D92A8160-8EC5-44CD-890F-2175068EA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D55770D1-A1BD-40CE-9EFC-36C91D5E4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C797F1-51B4-4669-8932-931C5B99BFF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787274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F8E58FE-569B-4412-A14A-774BE558DA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7A5403B-11BB-4E4C-AB48-12E8E05907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4FD0A56E-A6EF-45DD-93D5-D0985D2B98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4FD928C0-AFF6-4A56-88C7-C81BD8434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B3CA0-2F5A-4BA3-86AF-AC97AE9DB680}" type="datetimeFigureOut">
              <a:rPr lang="hu-HU" smtClean="0"/>
              <a:t>2026. 10. 08.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96AB9147-8739-4893-8372-070B20333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787F91FE-63AE-42F8-AC2B-B43BE89F6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C797F1-51B4-4669-8932-931C5B99BFF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599250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D97E54A-BB11-472F-8DA8-625FF1477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25AB4A46-C1D1-4B56-9A4F-9C62C3832A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7B871FB9-E105-48D5-94B1-79F2FF51AF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9141E063-D513-405B-B772-295AEE6968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B3CA0-2F5A-4BA3-86AF-AC97AE9DB680}" type="datetimeFigureOut">
              <a:rPr lang="hu-HU" smtClean="0"/>
              <a:t>2026. 10. 08.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EDB80BEC-5688-4B94-94F2-E8690F97A2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D175DAA4-E088-46B3-B040-32508501C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C797F1-51B4-4669-8932-931C5B99BFF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42091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3526053-1457-4A87-B190-E6F71A745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EF28B921-8482-4486-B499-4F5A62CD47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0D1D94E-BE6C-4403-8AAD-970B95B26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B3CA0-2F5A-4BA3-86AF-AC97AE9DB680}" type="datetimeFigureOut">
              <a:rPr lang="hu-HU" smtClean="0"/>
              <a:t>2026. 10. 08.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8BBF8B6-CC83-423D-9DD1-6B70FA3A6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A18BA01D-6678-455A-B1F0-CCF1CB8E3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C797F1-51B4-4669-8932-931C5B99BFF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7195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55660B85-218A-4A60-81CC-0239EECBA6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6AAB5FE6-D3C8-4EC7-840D-36EA8992D8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42B0C25-ED96-4919-A019-7894B8BACA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B3CA0-2F5A-4BA3-86AF-AC97AE9DB680}" type="datetimeFigureOut">
              <a:rPr lang="hu-HU" smtClean="0"/>
              <a:t>2026. 10. 08.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F0B317FC-4748-4084-B0C2-A9BA45D638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E746287-C8BC-4E8F-9742-1A1AC2CA6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C797F1-51B4-4669-8932-931C5B99BFF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812985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E5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82BB4006-EA66-4E2F-B95C-F1BED9B14F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dirty="0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5C4FE15A-FC12-4169-A970-96CCC66ACF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endParaRPr lang="hu-HU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A69B969-ADB5-4FB7-A3A5-BEF955B8365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4B3CA0-2F5A-4BA3-86AF-AC97AE9DB680}" type="datetimeFigureOut">
              <a:rPr lang="hu-HU" smtClean="0"/>
              <a:t>2026. 10. 08.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88BEF93-F020-4949-9CBE-C484111648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C24E3EE-D4F5-4CBB-B449-0774628FE6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C797F1-51B4-4669-8932-931C5B99BFF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899858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000003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000003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000003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0003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0003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9.xml"/><Relationship Id="rId5" Type="http://schemas.openxmlformats.org/officeDocument/2006/relationships/slide" Target="slide7.xml"/><Relationship Id="rId4" Type="http://schemas.openxmlformats.org/officeDocument/2006/relationships/slide" Target="slide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F308B17-32AF-4B85-95B8-3D6795EBB33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b="1" dirty="0"/>
              <a:t>Operátorok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84E112F4-EAF1-4462-8D6C-6587972BC3D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7239223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59EB4B6-54E0-4A25-8CE7-E7CA48F7C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6000" b="1" dirty="0"/>
              <a:t>Menü:</a:t>
            </a:r>
          </a:p>
        </p:txBody>
      </p:sp>
      <p:pic>
        <p:nvPicPr>
          <p:cNvPr id="4" name="Kép 3">
            <a:hlinkClick r:id="rId2" action="ppaction://hlinksldjump"/>
            <a:extLst>
              <a:ext uri="{FF2B5EF4-FFF2-40B4-BE49-F238E27FC236}">
                <a16:creationId xmlns:a16="http://schemas.microsoft.com/office/drawing/2014/main" id="{843B458F-6C99-4ADF-A23C-896C62EF68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2155" y="4231468"/>
            <a:ext cx="613355" cy="613355"/>
          </a:xfrm>
          <a:prstGeom prst="rect">
            <a:avLst/>
          </a:prstGeom>
        </p:spPr>
      </p:pic>
      <p:sp>
        <p:nvSpPr>
          <p:cNvPr id="5" name="Szövegdoboz 4">
            <a:extLst>
              <a:ext uri="{FF2B5EF4-FFF2-40B4-BE49-F238E27FC236}">
                <a16:creationId xmlns:a16="http://schemas.microsoft.com/office/drawing/2014/main" id="{727BB400-16CA-48D9-9F78-70A125E0E2B9}"/>
              </a:ext>
            </a:extLst>
          </p:cNvPr>
          <p:cNvSpPr txBox="1"/>
          <p:nvPr/>
        </p:nvSpPr>
        <p:spPr>
          <a:xfrm>
            <a:off x="722623" y="3493462"/>
            <a:ext cx="202624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000" b="1" dirty="0">
                <a:hlinkClick r:id="rId2" action="ppaction://hlinksldjump"/>
              </a:rPr>
              <a:t>Aritmetikai</a:t>
            </a:r>
            <a:endParaRPr lang="hu-HU" sz="3000" b="1" dirty="0"/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2F64DF35-66E9-45C8-88E4-8CF1E5829824}"/>
              </a:ext>
            </a:extLst>
          </p:cNvPr>
          <p:cNvSpPr txBox="1"/>
          <p:nvPr/>
        </p:nvSpPr>
        <p:spPr>
          <a:xfrm>
            <a:off x="6992307" y="3467314"/>
            <a:ext cx="172835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000" b="1" dirty="0">
                <a:hlinkClick r:id="rId4" action="ppaction://hlinksldjump"/>
              </a:rPr>
              <a:t>Értékadó</a:t>
            </a:r>
            <a:endParaRPr lang="hu-HU" sz="3000" b="1" dirty="0"/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A64F9ABF-E07A-4378-80C1-FF68BB9F8E93}"/>
              </a:ext>
            </a:extLst>
          </p:cNvPr>
          <p:cNvSpPr txBox="1"/>
          <p:nvPr/>
        </p:nvSpPr>
        <p:spPr>
          <a:xfrm>
            <a:off x="7431816" y="3770461"/>
            <a:ext cx="71387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8000" b="1" dirty="0"/>
              <a:t>=</a:t>
            </a:r>
            <a:endParaRPr lang="hu-HU" sz="8000" dirty="0"/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445685B1-BABA-4A1F-8932-3176AF57F22A}"/>
              </a:ext>
            </a:extLst>
          </p:cNvPr>
          <p:cNvSpPr txBox="1"/>
          <p:nvPr/>
        </p:nvSpPr>
        <p:spPr>
          <a:xfrm>
            <a:off x="2579202" y="2826348"/>
            <a:ext cx="422544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000" b="1" dirty="0">
                <a:hlinkClick r:id="rId5" action="ppaction://hlinksldjump"/>
              </a:rPr>
              <a:t>Relációs(összehasonlító)</a:t>
            </a:r>
            <a:endParaRPr lang="hu-HU" sz="3000" b="1" dirty="0"/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431D78CB-07E8-423C-8F07-33AAE76F804C}"/>
              </a:ext>
            </a:extLst>
          </p:cNvPr>
          <p:cNvSpPr txBox="1"/>
          <p:nvPr/>
        </p:nvSpPr>
        <p:spPr>
          <a:xfrm>
            <a:off x="4307294" y="3213660"/>
            <a:ext cx="56778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6000" b="1" dirty="0"/>
              <a:t>&lt;</a:t>
            </a:r>
          </a:p>
        </p:txBody>
      </p:sp>
      <p:sp>
        <p:nvSpPr>
          <p:cNvPr id="10" name="Szövegdoboz 9">
            <a:extLst>
              <a:ext uri="{FF2B5EF4-FFF2-40B4-BE49-F238E27FC236}">
                <a16:creationId xmlns:a16="http://schemas.microsoft.com/office/drawing/2014/main" id="{4BDD6F70-2569-4836-B970-ADCA6F5D01A2}"/>
              </a:ext>
            </a:extLst>
          </p:cNvPr>
          <p:cNvSpPr txBox="1"/>
          <p:nvPr/>
        </p:nvSpPr>
        <p:spPr>
          <a:xfrm>
            <a:off x="9656618" y="2826348"/>
            <a:ext cx="155169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000" b="1" dirty="0">
                <a:hlinkClick r:id="rId6" action="ppaction://hlinksldjump"/>
              </a:rPr>
              <a:t>Logikai</a:t>
            </a:r>
            <a:endParaRPr lang="hu-HU" sz="3000" b="1" dirty="0"/>
          </a:p>
        </p:txBody>
      </p:sp>
      <p:sp>
        <p:nvSpPr>
          <p:cNvPr id="11" name="Szövegdoboz 10">
            <a:extLst>
              <a:ext uri="{FF2B5EF4-FFF2-40B4-BE49-F238E27FC236}">
                <a16:creationId xmlns:a16="http://schemas.microsoft.com/office/drawing/2014/main" id="{31D1F507-54E2-4083-AF63-10388B0C62D0}"/>
              </a:ext>
            </a:extLst>
          </p:cNvPr>
          <p:cNvSpPr txBox="1"/>
          <p:nvPr/>
        </p:nvSpPr>
        <p:spPr>
          <a:xfrm>
            <a:off x="9766106" y="3453175"/>
            <a:ext cx="134602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5000" b="1" dirty="0"/>
              <a:t>&amp;&amp;</a:t>
            </a:r>
          </a:p>
        </p:txBody>
      </p:sp>
    </p:spTree>
    <p:extLst>
      <p:ext uri="{BB962C8B-B14F-4D97-AF65-F5344CB8AC3E}">
        <p14:creationId xmlns:p14="http://schemas.microsoft.com/office/powerpoint/2010/main" val="16289953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6872923-B1DC-4D60-BDE2-003F53F52F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Aritmetikai operátorok	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172D52D-2060-4795-95D1-385A3F7C91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096134" cy="4351338"/>
          </a:xfrm>
        </p:spPr>
        <p:txBody>
          <a:bodyPr/>
          <a:lstStyle/>
          <a:p>
            <a:r>
              <a:rPr lang="hu-HU" dirty="0"/>
              <a:t>Matematikai számításokhoz használatosak</a:t>
            </a:r>
          </a:p>
          <a:p>
            <a:r>
              <a:rPr lang="hu-HU" dirty="0"/>
              <a:t>Minden esetben 2 operandus szükséges hozzájuk</a:t>
            </a:r>
          </a:p>
          <a:p>
            <a:r>
              <a:rPr lang="hu-HU" dirty="0"/>
              <a:t>5 féle létezik: </a:t>
            </a:r>
          </a:p>
          <a:p>
            <a:pPr lvl="1"/>
            <a:r>
              <a:rPr lang="hu-HU" dirty="0"/>
              <a:t>+ (összeadás) </a:t>
            </a:r>
          </a:p>
          <a:p>
            <a:pPr lvl="1"/>
            <a:r>
              <a:rPr lang="hu-HU" dirty="0"/>
              <a:t>- (kivonás) </a:t>
            </a:r>
          </a:p>
          <a:p>
            <a:pPr lvl="1"/>
            <a:r>
              <a:rPr lang="hu-HU" dirty="0"/>
              <a:t>* (szorzás)</a:t>
            </a:r>
          </a:p>
          <a:p>
            <a:pPr lvl="1"/>
            <a:r>
              <a:rPr lang="hu-HU" dirty="0"/>
              <a:t>/ (osztás)</a:t>
            </a:r>
          </a:p>
          <a:p>
            <a:pPr lvl="1"/>
            <a:r>
              <a:rPr lang="hu-HU" dirty="0"/>
              <a:t>% (maradékos osztás)</a:t>
            </a:r>
          </a:p>
          <a:p>
            <a:pPr marL="0" indent="0">
              <a:buNone/>
            </a:pPr>
            <a:r>
              <a:rPr lang="hu-HU" dirty="0"/>
              <a:t>			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C9B6FCB9-7966-4605-AD78-602C1A2AAE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3736" y="649837"/>
            <a:ext cx="725864" cy="725864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B28F5B8B-0AF0-425C-A433-5E88E8B976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9486901" y="1490760"/>
            <a:ext cx="946608" cy="946608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C4E56E3A-1F3D-4371-88FC-96FE3079E3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7599183" y="3834353"/>
            <a:ext cx="793422" cy="793422"/>
          </a:xfrm>
          <a:prstGeom prst="rect">
            <a:avLst/>
          </a:prstGeom>
        </p:spPr>
      </p:pic>
      <p:sp>
        <p:nvSpPr>
          <p:cNvPr id="12" name="Szövegdoboz 11">
            <a:extLst>
              <a:ext uri="{FF2B5EF4-FFF2-40B4-BE49-F238E27FC236}">
                <a16:creationId xmlns:a16="http://schemas.microsoft.com/office/drawing/2014/main" id="{39027AD1-36E2-409F-B740-DCB789599857}"/>
              </a:ext>
            </a:extLst>
          </p:cNvPr>
          <p:cNvSpPr txBox="1"/>
          <p:nvPr/>
        </p:nvSpPr>
        <p:spPr>
          <a:xfrm>
            <a:off x="10011266" y="3404970"/>
            <a:ext cx="192306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6000" b="1" dirty="0"/>
              <a:t>/</a:t>
            </a:r>
          </a:p>
        </p:txBody>
      </p:sp>
      <p:sp>
        <p:nvSpPr>
          <p:cNvPr id="14" name="Szövegdoboz 13">
            <a:extLst>
              <a:ext uri="{FF2B5EF4-FFF2-40B4-BE49-F238E27FC236}">
                <a16:creationId xmlns:a16="http://schemas.microsoft.com/office/drawing/2014/main" id="{27F5B4A8-5016-479C-8E05-B1F8EFC690AF}"/>
              </a:ext>
            </a:extLst>
          </p:cNvPr>
          <p:cNvSpPr txBox="1"/>
          <p:nvPr/>
        </p:nvSpPr>
        <p:spPr>
          <a:xfrm>
            <a:off x="9387134" y="5367240"/>
            <a:ext cx="14423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6000" b="1" dirty="0"/>
              <a:t>%</a:t>
            </a:r>
          </a:p>
        </p:txBody>
      </p:sp>
    </p:spTree>
    <p:extLst>
      <p:ext uri="{BB962C8B-B14F-4D97-AF65-F5344CB8AC3E}">
        <p14:creationId xmlns:p14="http://schemas.microsoft.com/office/powerpoint/2010/main" val="7268729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5A1E04D-EE8B-410C-9F36-A4544BB3D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Aritmetikai operátorok</a:t>
            </a:r>
            <a:endParaRPr lang="hu-HU" dirty="0"/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6798C6E4-E861-45CC-9EE1-EBAB29503B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81626" y="1873536"/>
            <a:ext cx="7300846" cy="1745018"/>
          </a:xfr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194E8483-7A71-4143-A3B7-7C1D19FAEA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721" y="4301067"/>
            <a:ext cx="7633638" cy="1671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28349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C963AE7-1D7B-4C10-85C9-4C8454F14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Értékadó operátorok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ED1FB53-E58F-4B5E-8619-B76EB6BBF3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Értéket rendelnek a változókhoz</a:t>
            </a:r>
          </a:p>
          <a:p>
            <a:r>
              <a:rPr lang="hu-HU" dirty="0"/>
              <a:t>=  (egyenlő)</a:t>
            </a:r>
          </a:p>
          <a:p>
            <a:r>
              <a:rPr lang="hu-HU" dirty="0"/>
              <a:t>+= (hozzáad az aktuális értékhez)</a:t>
            </a:r>
          </a:p>
          <a:p>
            <a:r>
              <a:rPr lang="hu-HU" dirty="0"/>
              <a:t> -= (kivon az aktuális értékből)</a:t>
            </a:r>
          </a:p>
          <a:p>
            <a:r>
              <a:rPr lang="hu-HU" dirty="0"/>
              <a:t> *= (megszorozza az aktuális értéket )</a:t>
            </a:r>
          </a:p>
          <a:p>
            <a:r>
              <a:rPr lang="hu-HU" dirty="0"/>
              <a:t> /= (elosztja az aktuális értéket)</a:t>
            </a:r>
          </a:p>
          <a:p>
            <a:r>
              <a:rPr lang="hu-HU" dirty="0"/>
              <a:t>%= (maradékosan elosztja az aktuális értéket)</a:t>
            </a:r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2A24B2C1-AB75-4D68-95CE-D2EA450E325E}"/>
              </a:ext>
            </a:extLst>
          </p:cNvPr>
          <p:cNvSpPr txBox="1"/>
          <p:nvPr/>
        </p:nvSpPr>
        <p:spPr>
          <a:xfrm>
            <a:off x="6786094" y="564157"/>
            <a:ext cx="205504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6000" b="1" dirty="0"/>
              <a:t>=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3B9D7DAB-C245-426F-B216-C454DD762932}"/>
              </a:ext>
            </a:extLst>
          </p:cNvPr>
          <p:cNvSpPr txBox="1"/>
          <p:nvPr/>
        </p:nvSpPr>
        <p:spPr>
          <a:xfrm>
            <a:off x="9930230" y="3251056"/>
            <a:ext cx="108027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6000" b="1" dirty="0"/>
              <a:t>+=</a:t>
            </a:r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99D66E0B-B35C-4F3E-BB3A-A787324F4E3F}"/>
              </a:ext>
            </a:extLst>
          </p:cNvPr>
          <p:cNvSpPr txBox="1"/>
          <p:nvPr/>
        </p:nvSpPr>
        <p:spPr>
          <a:xfrm>
            <a:off x="9076807" y="1340813"/>
            <a:ext cx="148943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6000" b="1" dirty="0"/>
              <a:t>-=</a:t>
            </a: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90CB9387-8019-4D5F-AAC8-326410A5CDA4}"/>
              </a:ext>
            </a:extLst>
          </p:cNvPr>
          <p:cNvSpPr txBox="1"/>
          <p:nvPr/>
        </p:nvSpPr>
        <p:spPr>
          <a:xfrm>
            <a:off x="8489888" y="4798244"/>
            <a:ext cx="89800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6000" b="1" dirty="0"/>
              <a:t>/=</a:t>
            </a:r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44133925-0A5A-4B15-9C69-159F570CF3AC}"/>
              </a:ext>
            </a:extLst>
          </p:cNvPr>
          <p:cNvSpPr txBox="1"/>
          <p:nvPr/>
        </p:nvSpPr>
        <p:spPr>
          <a:xfrm>
            <a:off x="7071309" y="2635623"/>
            <a:ext cx="95090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6000" b="1" dirty="0"/>
              <a:t>*=</a:t>
            </a: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204A92AE-B59F-4569-95C2-54EB8EB877E1}"/>
              </a:ext>
            </a:extLst>
          </p:cNvPr>
          <p:cNvSpPr txBox="1"/>
          <p:nvPr/>
        </p:nvSpPr>
        <p:spPr>
          <a:xfrm>
            <a:off x="10353772" y="5477212"/>
            <a:ext cx="18382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6000" b="1" dirty="0"/>
              <a:t>%=</a:t>
            </a:r>
          </a:p>
        </p:txBody>
      </p:sp>
    </p:spTree>
    <p:extLst>
      <p:ext uri="{BB962C8B-B14F-4D97-AF65-F5344CB8AC3E}">
        <p14:creationId xmlns:p14="http://schemas.microsoft.com/office/powerpoint/2010/main" val="10690007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5A97F03-F946-4221-8CD7-7EDEEDF627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Értékadó operátorok</a:t>
            </a:r>
            <a:endParaRPr lang="hu-HU" dirty="0"/>
          </a:p>
        </p:txBody>
      </p:sp>
      <p:pic>
        <p:nvPicPr>
          <p:cNvPr id="17" name="Kép 16">
            <a:extLst>
              <a:ext uri="{FF2B5EF4-FFF2-40B4-BE49-F238E27FC236}">
                <a16:creationId xmlns:a16="http://schemas.microsoft.com/office/drawing/2014/main" id="{270247B2-CB06-4C57-9477-B05146CBCD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2589" y="2336998"/>
            <a:ext cx="7506822" cy="2184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62779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52F24E5-D4CA-4791-B650-BD6AF892D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Összehasonlító (relációs) operátorok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7C96E6C-7BFF-4A72-B873-1D3A4DB698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Két értéket hasonlítanak össze</a:t>
            </a:r>
          </a:p>
          <a:p>
            <a:r>
              <a:rPr lang="hu-HU" dirty="0"/>
              <a:t>Eredményük IGAZ vagy HAMIS (</a:t>
            </a:r>
            <a:r>
              <a:rPr lang="hu-HU" dirty="0" err="1"/>
              <a:t>true</a:t>
            </a:r>
            <a:r>
              <a:rPr lang="hu-HU" dirty="0"/>
              <a:t> </a:t>
            </a:r>
            <a:r>
              <a:rPr lang="hu-HU" dirty="0" err="1"/>
              <a:t>or</a:t>
            </a:r>
            <a:r>
              <a:rPr lang="hu-HU" dirty="0"/>
              <a:t> </a:t>
            </a:r>
            <a:r>
              <a:rPr lang="hu-HU" dirty="0" err="1"/>
              <a:t>false</a:t>
            </a:r>
            <a:r>
              <a:rPr lang="hu-HU" dirty="0"/>
              <a:t>)</a:t>
            </a:r>
          </a:p>
          <a:p>
            <a:r>
              <a:rPr lang="hu-HU" dirty="0"/>
              <a:t> &lt;    (kisebb)</a:t>
            </a:r>
          </a:p>
          <a:p>
            <a:r>
              <a:rPr lang="hu-HU" dirty="0"/>
              <a:t> &lt;=  (kisebb egyenlő)</a:t>
            </a:r>
          </a:p>
          <a:p>
            <a:r>
              <a:rPr lang="hu-HU" dirty="0"/>
              <a:t> &gt;    (nagyobb)</a:t>
            </a:r>
          </a:p>
          <a:p>
            <a:r>
              <a:rPr lang="hu-HU" dirty="0"/>
              <a:t> &gt;=  (nagyobb egyenlő)</a:t>
            </a:r>
          </a:p>
          <a:p>
            <a:r>
              <a:rPr lang="hu-HU" dirty="0"/>
              <a:t>==   (egyenlő)</a:t>
            </a:r>
          </a:p>
          <a:p>
            <a:r>
              <a:rPr lang="hu-HU" dirty="0"/>
              <a:t>!=    (nem egyenlő)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6023361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2145D25-21D8-47D6-A5EA-F6DF0B81B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Összehasonlító operátorok</a:t>
            </a:r>
            <a:endParaRPr lang="hu-HU" dirty="0"/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94B8465A-B850-4B3A-8E19-A584FBA36A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2263" y="1973399"/>
            <a:ext cx="6013804" cy="1593883"/>
          </a:xfr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6957E080-6969-442A-AB08-E111A82C14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5161" y="4233334"/>
            <a:ext cx="7555761" cy="1498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22579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3EC189C-9987-4F6D-BA60-F5CBF4DE1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Logikai operátorok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4BE9D31-3FE0-4769-92B4-6847C4EE00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Logikai feltételeket kapcsolnak össze</a:t>
            </a:r>
          </a:p>
          <a:p>
            <a:r>
              <a:rPr lang="hu-HU" dirty="0"/>
              <a:t>! (</a:t>
            </a:r>
            <a:r>
              <a:rPr lang="hu-HU" dirty="0" err="1"/>
              <a:t>not</a:t>
            </a:r>
            <a:r>
              <a:rPr lang="hu-HU" dirty="0"/>
              <a:t>)</a:t>
            </a:r>
          </a:p>
          <a:p>
            <a:r>
              <a:rPr lang="hu-HU" dirty="0"/>
              <a:t>&amp;&amp; (és)</a:t>
            </a:r>
          </a:p>
          <a:p>
            <a:r>
              <a:rPr lang="hu-HU" dirty="0"/>
              <a:t>|| (vagy)</a:t>
            </a:r>
          </a:p>
        </p:txBody>
      </p:sp>
    </p:spTree>
    <p:extLst>
      <p:ext uri="{BB962C8B-B14F-4D97-AF65-F5344CB8AC3E}">
        <p14:creationId xmlns:p14="http://schemas.microsoft.com/office/powerpoint/2010/main" val="33442077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FBCD6B0-8B21-4141-907A-D2CF418264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Logikai operátorok</a:t>
            </a:r>
            <a:endParaRPr lang="hu-HU" dirty="0"/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E0E5E8E7-1367-4C2D-9F0C-0F39A92A62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2827" y="1286673"/>
            <a:ext cx="6857389" cy="1552906"/>
          </a:xfr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40147A01-46BA-4842-A5F4-917A657A90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915" y="3246165"/>
            <a:ext cx="6163486" cy="1544514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995750D6-10DF-43E5-9321-3DBC9D4C421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9401" y="4314755"/>
            <a:ext cx="5207000" cy="2118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372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185</Words>
  <Application>Microsoft Office PowerPoint</Application>
  <PresentationFormat>Szélesvásznú</PresentationFormat>
  <Paragraphs>53</Paragraphs>
  <Slides>10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Office-téma</vt:lpstr>
      <vt:lpstr>Operátorok</vt:lpstr>
      <vt:lpstr>Menü:</vt:lpstr>
      <vt:lpstr>Aritmetikai operátorok </vt:lpstr>
      <vt:lpstr>Aritmetikai operátorok</vt:lpstr>
      <vt:lpstr>Értékadó operátorok</vt:lpstr>
      <vt:lpstr>Értékadó operátorok</vt:lpstr>
      <vt:lpstr>Összehasonlító (relációs) operátorok</vt:lpstr>
      <vt:lpstr>Összehasonlító operátorok</vt:lpstr>
      <vt:lpstr>Logikai operátorok</vt:lpstr>
      <vt:lpstr>Logikai operátorok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Operátorok</dc:title>
  <dc:creator>Moldovan Sebastian</dc:creator>
  <cp:lastModifiedBy>Moldovan Sebastian</cp:lastModifiedBy>
  <cp:revision>10</cp:revision>
  <dcterms:created xsi:type="dcterms:W3CDTF">2026-10-01T10:33:17Z</dcterms:created>
  <dcterms:modified xsi:type="dcterms:W3CDTF">2026-10-08T11:44:08Z</dcterms:modified>
</cp:coreProperties>
</file>