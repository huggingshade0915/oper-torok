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8" r:id="rId3"/>
    <p:sldId id="257" r:id="rId4"/>
    <p:sldId id="262" r:id="rId5"/>
    <p:sldId id="259" r:id="rId6"/>
    <p:sldId id="263" r:id="rId7"/>
    <p:sldId id="260" r:id="rId8"/>
    <p:sldId id="264" r:id="rId9"/>
    <p:sldId id="261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66"/>
    <a:srgbClr val="000003"/>
    <a:srgbClr val="FDE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3DD460-3841-4687-8515-3B36945CE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80E719-D8DE-44D4-9AAE-7245A9903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02331B2-096A-49DA-B462-3074571F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69C72C-F795-46AA-A47A-9740C111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5ED7ED-51C3-4FCB-8A23-8CA27612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90601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0D58BF-9187-425B-A3B8-C27F010A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088452-9B00-44A3-A4DE-8D2F69232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C02BC34-90AE-4318-BD30-31EE84A8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F09A00-8EA1-46F9-B7C1-A11F1AF0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EC2BC51-92D5-49F2-BF5E-32B14937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49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A89D92-1786-466F-8832-FF139248E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7DAE5A2-E53C-4CE9-A955-523AE6043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6D5151-DBCB-43AF-A013-A3E0B09F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851F35B-0483-4F0D-9AFB-421A9EDA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F11E2F6-6544-4665-92AA-11037D2BD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09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B94D0D-A51F-43E6-BD01-BB1A5D2F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1B6E4A-114F-4545-81AA-0FAE62FBF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F130191-536A-4830-84AC-06896C88C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85B80B0-2233-430A-AD57-6A9E311B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C9A7966-D7B8-4333-92C7-72C8F1147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5A911EF-4781-4E3D-B7DB-6B2840AC6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9794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892D06-4601-44B3-996C-7892D929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9702189-7F45-4C78-A187-586941170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C558BAA-E736-4F55-AA6A-25B908646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AE1B40EA-3D81-4061-B0D4-E14B3997F1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B997C7B-18BE-4926-9C8F-F3E2CDEF8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694ABF0-51A7-4C7A-8321-B3DBB5A7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AC168F2-AB66-4B91-9344-FB8449893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2AC191B-3F3F-4FF6-9631-566BCC85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697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3CDA8D-F058-4837-BFDF-0E1C4F21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2107B46-52A6-4ECC-9270-46568B6D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64AAD88-F046-4032-9CC2-A46E5F577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DCA10BA-FC63-4C98-8FC1-B7779174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915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6901B899-1DDF-4489-94A3-369EF7EB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D92A8160-8EC5-44CD-890F-2175068EA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55770D1-A1BD-40CE-9EFC-36C91D5E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72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8E58FE-569B-4412-A14A-774BE558D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A5403B-11BB-4E4C-AB48-12E8E059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FD0A56E-A6EF-45DD-93D5-D0985D2B98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FD928C0-AFF6-4A56-88C7-C81BD843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6AB9147-8739-4893-8372-070B2033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87F91FE-63AE-42F8-AC2B-B43BE89F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992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97E54A-BB11-472F-8DA8-625FF1477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5AB4A46-C1D1-4B56-9A4F-9C62C3832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B871FB9-E105-48D5-94B1-79F2FF51A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41E063-D513-405B-B772-295AEE69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DB80BEC-5688-4B94-94F2-E8690F97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175DAA4-E088-46B3-B040-32508501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20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3526053-1457-4A87-B190-E6F71A74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F28B921-8482-4486-B499-4F5A62CD4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0D1D94E-BE6C-4403-8AAD-970B95B2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8BBF8B6-CC83-423D-9DD1-6B70FA3A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18BA01D-6678-455A-B1F0-CCF1CB8E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1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5660B85-218A-4A60-81CC-0239EECBA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AAB5FE6-D3C8-4EC7-840D-36EA8992D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42B0C25-ED96-4919-A019-7894B8BAC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0B317FC-4748-4084-B0C2-A9BA45D63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746287-C8BC-4E8F-9742-1A1AC2CA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129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82BB4006-EA66-4E2F-B95C-F1BED9B1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C4FE15A-FC12-4169-A970-96CCC66AC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A69B969-ADB5-4FB7-A3A5-BEF955B83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4B3CA0-2F5A-4BA3-86AF-AC97AE9DB680}" type="datetimeFigureOut">
              <a:rPr lang="hu-HU" smtClean="0"/>
              <a:t>2026. 10. 01.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88BEF93-F020-4949-9CBE-C48411164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24E3EE-D4F5-4CBB-B449-0774628FE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97F1-51B4-4669-8932-931C5B99BFF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998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0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0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0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0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308B17-32AF-4B85-95B8-3D6795EBB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/>
              <a:t>Operátorok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4E112F4-EAF1-4462-8D6C-6587972BC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23922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9EB4B6-54E0-4A25-8CE7-E7CA48F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Menü: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8E8A8-19A1-49F3-9A8D-E9FEC4426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4" name="Kép 3">
            <a:hlinkClick r:id="rId2" action="ppaction://hlinksldjump"/>
            <a:extLst>
              <a:ext uri="{FF2B5EF4-FFF2-40B4-BE49-F238E27FC236}">
                <a16:creationId xmlns:a16="http://schemas.microsoft.com/office/drawing/2014/main" id="{843B458F-6C99-4ADF-A23C-896C62EF6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505" y="3800582"/>
            <a:ext cx="613355" cy="61335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727BB400-16CA-48D9-9F78-70A125E0E2B9}"/>
              </a:ext>
            </a:extLst>
          </p:cNvPr>
          <p:cNvSpPr txBox="1"/>
          <p:nvPr/>
        </p:nvSpPr>
        <p:spPr>
          <a:xfrm>
            <a:off x="1668545" y="3400719"/>
            <a:ext cx="131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Aritmetikai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F64DF35-66E9-45C8-88E4-8CF1E5829824}"/>
              </a:ext>
            </a:extLst>
          </p:cNvPr>
          <p:cNvSpPr txBox="1"/>
          <p:nvPr/>
        </p:nvSpPr>
        <p:spPr>
          <a:xfrm>
            <a:off x="8589263" y="2228379"/>
            <a:ext cx="1039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Értékadó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64F9ABF-E07A-4378-80C1-FF68BB9F8E93}"/>
              </a:ext>
            </a:extLst>
          </p:cNvPr>
          <p:cNvSpPr txBox="1"/>
          <p:nvPr/>
        </p:nvSpPr>
        <p:spPr>
          <a:xfrm>
            <a:off x="8825289" y="2347349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6000" b="1" dirty="0">
                <a:hlinkClick r:id="rId4" action="ppaction://hlinksldjump"/>
              </a:rPr>
              <a:t>=</a:t>
            </a:r>
            <a:endParaRPr lang="hu-HU" sz="6000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45685B1-BABA-4A1F-8932-3176AF57F22A}"/>
              </a:ext>
            </a:extLst>
          </p:cNvPr>
          <p:cNvSpPr txBox="1"/>
          <p:nvPr/>
        </p:nvSpPr>
        <p:spPr>
          <a:xfrm>
            <a:off x="4572812" y="2889240"/>
            <a:ext cx="2503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Relációs(összehasonlító)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31D78CB-07E8-423C-8F07-33AAE76F804C}"/>
              </a:ext>
            </a:extLst>
          </p:cNvPr>
          <p:cNvSpPr txBox="1"/>
          <p:nvPr/>
        </p:nvSpPr>
        <p:spPr>
          <a:xfrm>
            <a:off x="5540833" y="3091597"/>
            <a:ext cx="5677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6000" b="1" dirty="0">
                <a:hlinkClick r:id="rId5" action="ppaction://hlinksldjump"/>
              </a:rPr>
              <a:t>&lt;</a:t>
            </a:r>
            <a:endParaRPr lang="hu-HU" sz="6000" b="1" dirty="0"/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4BDD6F70-2569-4836-B970-ADCA6F5D01A2}"/>
              </a:ext>
            </a:extLst>
          </p:cNvPr>
          <p:cNvSpPr txBox="1"/>
          <p:nvPr/>
        </p:nvSpPr>
        <p:spPr>
          <a:xfrm>
            <a:off x="9421801" y="3922593"/>
            <a:ext cx="848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/>
              <a:t>Logikai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31D1F507-54E2-4083-AF63-10388B0C62D0}"/>
              </a:ext>
            </a:extLst>
          </p:cNvPr>
          <p:cNvSpPr txBox="1"/>
          <p:nvPr/>
        </p:nvSpPr>
        <p:spPr>
          <a:xfrm>
            <a:off x="9315694" y="4257007"/>
            <a:ext cx="134602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000" b="1" dirty="0">
                <a:hlinkClick r:id="rId6" action="ppaction://hlinksldjump"/>
              </a:rPr>
              <a:t>&amp;&amp;</a:t>
            </a:r>
            <a:endParaRPr lang="hu-HU" sz="5000" b="1" dirty="0"/>
          </a:p>
        </p:txBody>
      </p:sp>
    </p:spTree>
    <p:extLst>
      <p:ext uri="{BB962C8B-B14F-4D97-AF65-F5344CB8AC3E}">
        <p14:creationId xmlns:p14="http://schemas.microsoft.com/office/powerpoint/2010/main" val="162899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872923-B1DC-4D60-BDE2-003F53F52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Aritmetikai operátorok	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72D52D-2060-4795-95D1-385A3F7C9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96134" cy="4351338"/>
          </a:xfrm>
        </p:spPr>
        <p:txBody>
          <a:bodyPr/>
          <a:lstStyle/>
          <a:p>
            <a:r>
              <a:rPr lang="hu-HU" dirty="0"/>
              <a:t>Matematikai számításokhoz használatosak</a:t>
            </a:r>
          </a:p>
          <a:p>
            <a:r>
              <a:rPr lang="hu-HU" dirty="0"/>
              <a:t>Minden esetben 2 operandus szükséges hozzájuk</a:t>
            </a:r>
          </a:p>
          <a:p>
            <a:r>
              <a:rPr lang="hu-HU" dirty="0"/>
              <a:t>5 féle létezik: </a:t>
            </a:r>
          </a:p>
          <a:p>
            <a:pPr lvl="1"/>
            <a:r>
              <a:rPr lang="hu-HU" dirty="0"/>
              <a:t>+ (összeadás) </a:t>
            </a:r>
          </a:p>
          <a:p>
            <a:pPr lvl="1"/>
            <a:r>
              <a:rPr lang="hu-HU" dirty="0"/>
              <a:t>- (kivonás) </a:t>
            </a:r>
          </a:p>
          <a:p>
            <a:pPr lvl="1"/>
            <a:r>
              <a:rPr lang="hu-HU" dirty="0"/>
              <a:t>* (szorzás)</a:t>
            </a:r>
          </a:p>
          <a:p>
            <a:pPr lvl="1"/>
            <a:r>
              <a:rPr lang="hu-HU" dirty="0"/>
              <a:t>/ (osztás)</a:t>
            </a:r>
          </a:p>
          <a:p>
            <a:pPr lvl="1"/>
            <a:r>
              <a:rPr lang="hu-HU" dirty="0"/>
              <a:t>% (maradékos osztás)</a:t>
            </a:r>
          </a:p>
          <a:p>
            <a:pPr marL="0" indent="0">
              <a:buNone/>
            </a:pPr>
            <a:r>
              <a:rPr lang="hu-HU" dirty="0"/>
              <a:t>			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9B6FCB9-7966-4605-AD78-602C1A2A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36" y="649837"/>
            <a:ext cx="725864" cy="72586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B28F5B8B-0AF0-425C-A433-5E88E8B97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9486901" y="1490760"/>
            <a:ext cx="946608" cy="946608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4E56E3A-1F3D-4371-88FC-96FE3079E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599183" y="3834353"/>
            <a:ext cx="793422" cy="793422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39027AD1-36E2-409F-B740-DCB789599857}"/>
              </a:ext>
            </a:extLst>
          </p:cNvPr>
          <p:cNvSpPr txBox="1"/>
          <p:nvPr/>
        </p:nvSpPr>
        <p:spPr>
          <a:xfrm>
            <a:off x="10011266" y="3404970"/>
            <a:ext cx="1923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/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7F5B4A8-5016-479C-8E05-B1F8EFC690AF}"/>
              </a:ext>
            </a:extLst>
          </p:cNvPr>
          <p:cNvSpPr txBox="1"/>
          <p:nvPr/>
        </p:nvSpPr>
        <p:spPr>
          <a:xfrm>
            <a:off x="9387134" y="5367240"/>
            <a:ext cx="1442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726872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A1E04D-EE8B-410C-9F36-A4544BB3D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Aritmetikai operátorok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945A82-252B-4079-8066-CB03CBCC2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2834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C963AE7-1D7B-4C10-85C9-4C8454F1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Értékadó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ED1FB53-E58F-4B5E-8619-B76EB6BBF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Értéket rendelnek a változókhoz</a:t>
            </a:r>
          </a:p>
          <a:p>
            <a:r>
              <a:rPr lang="hu-HU" dirty="0"/>
              <a:t>=  (egyenlő)</a:t>
            </a:r>
          </a:p>
          <a:p>
            <a:r>
              <a:rPr lang="hu-HU" dirty="0"/>
              <a:t>+= (hozzáad az aktuális értékhez)</a:t>
            </a:r>
          </a:p>
          <a:p>
            <a:r>
              <a:rPr lang="hu-HU" dirty="0"/>
              <a:t> -= (kivon az aktuális értékből)</a:t>
            </a:r>
          </a:p>
          <a:p>
            <a:r>
              <a:rPr lang="hu-HU" dirty="0"/>
              <a:t> *= (megszorozza az aktuális értéket )</a:t>
            </a:r>
          </a:p>
          <a:p>
            <a:r>
              <a:rPr lang="hu-HU" dirty="0"/>
              <a:t> /= (elosztja az aktuális értéket)</a:t>
            </a:r>
          </a:p>
          <a:p>
            <a:r>
              <a:rPr lang="hu-HU" dirty="0"/>
              <a:t>%= (maradékosan elosztja az aktuális értéket)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2A24B2C1-AB75-4D68-95CE-D2EA450E325E}"/>
              </a:ext>
            </a:extLst>
          </p:cNvPr>
          <p:cNvSpPr txBox="1"/>
          <p:nvPr/>
        </p:nvSpPr>
        <p:spPr>
          <a:xfrm>
            <a:off x="6786094" y="564157"/>
            <a:ext cx="20550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=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B9D7DAB-C245-426F-B216-C454DD762932}"/>
              </a:ext>
            </a:extLst>
          </p:cNvPr>
          <p:cNvSpPr txBox="1"/>
          <p:nvPr/>
        </p:nvSpPr>
        <p:spPr>
          <a:xfrm>
            <a:off x="9930230" y="3251056"/>
            <a:ext cx="10802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+=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9D66E0B-B35C-4F3E-BB3A-A787324F4E3F}"/>
              </a:ext>
            </a:extLst>
          </p:cNvPr>
          <p:cNvSpPr txBox="1"/>
          <p:nvPr/>
        </p:nvSpPr>
        <p:spPr>
          <a:xfrm>
            <a:off x="9076807" y="1340813"/>
            <a:ext cx="14894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-=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90CB9387-8019-4D5F-AAC8-326410A5CDA4}"/>
              </a:ext>
            </a:extLst>
          </p:cNvPr>
          <p:cNvSpPr txBox="1"/>
          <p:nvPr/>
        </p:nvSpPr>
        <p:spPr>
          <a:xfrm>
            <a:off x="8489888" y="4798244"/>
            <a:ext cx="89800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6000" b="1" dirty="0"/>
              <a:t>/=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4133925-0A5A-4B15-9C69-159F570CF3AC}"/>
              </a:ext>
            </a:extLst>
          </p:cNvPr>
          <p:cNvSpPr txBox="1"/>
          <p:nvPr/>
        </p:nvSpPr>
        <p:spPr>
          <a:xfrm>
            <a:off x="7071309" y="2635623"/>
            <a:ext cx="9509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6000" b="1" dirty="0"/>
              <a:t>*=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204A92AE-B59F-4569-95C2-54EB8EB877E1}"/>
              </a:ext>
            </a:extLst>
          </p:cNvPr>
          <p:cNvSpPr txBox="1"/>
          <p:nvPr/>
        </p:nvSpPr>
        <p:spPr>
          <a:xfrm>
            <a:off x="10353772" y="5477212"/>
            <a:ext cx="18382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6000" b="1" dirty="0"/>
              <a:t>%=</a:t>
            </a:r>
          </a:p>
        </p:txBody>
      </p:sp>
    </p:spTree>
    <p:extLst>
      <p:ext uri="{BB962C8B-B14F-4D97-AF65-F5344CB8AC3E}">
        <p14:creationId xmlns:p14="http://schemas.microsoft.com/office/powerpoint/2010/main" val="106900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A97F03-F946-4221-8CD7-7EDEEDF6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Értékadó operátorok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26C0B7-B924-4EFB-9569-495DF7171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627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2F24E5-D4CA-4791-B650-BD6AF892D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Összehasonlító (relációs)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C96E6C-7BFF-4A72-B873-1D3A4DB69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Két értéket hasonlítanak össze</a:t>
            </a:r>
          </a:p>
          <a:p>
            <a:r>
              <a:rPr lang="hu-HU" dirty="0"/>
              <a:t>Eredményük IGAZ vagy HAMIS (</a:t>
            </a:r>
            <a:r>
              <a:rPr lang="hu-HU" dirty="0" err="1"/>
              <a:t>true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false</a:t>
            </a:r>
            <a:r>
              <a:rPr lang="hu-HU" dirty="0"/>
              <a:t>)</a:t>
            </a:r>
          </a:p>
          <a:p>
            <a:r>
              <a:rPr lang="hu-HU" dirty="0"/>
              <a:t> &lt;    (kisebb)</a:t>
            </a:r>
          </a:p>
          <a:p>
            <a:r>
              <a:rPr lang="hu-HU" dirty="0"/>
              <a:t> &lt;=  (kisebb egyenlő)</a:t>
            </a:r>
          </a:p>
          <a:p>
            <a:r>
              <a:rPr lang="hu-HU" dirty="0"/>
              <a:t> &gt;    (nagyobb)</a:t>
            </a:r>
          </a:p>
          <a:p>
            <a:r>
              <a:rPr lang="hu-HU" dirty="0"/>
              <a:t> &gt;=  (nagyobb egyenlő)</a:t>
            </a:r>
          </a:p>
          <a:p>
            <a:r>
              <a:rPr lang="hu-HU" dirty="0"/>
              <a:t>==   (egyenlő)</a:t>
            </a:r>
          </a:p>
          <a:p>
            <a:r>
              <a:rPr lang="hu-HU" dirty="0"/>
              <a:t>!=    (nem egyenlő)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0233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145D25-21D8-47D6-A5EA-F6DF0B81B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Összehasonlító operátorok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61A0F1-08CE-4529-BCD1-C0B9A30F7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225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EC189C-9987-4F6D-BA60-F5CBF4DE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Logikai operátorok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BE9D31-3FE0-4769-92B4-6847C4EE0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Logikai feltételeket kapcsolnak össze</a:t>
            </a:r>
          </a:p>
          <a:p>
            <a:r>
              <a:rPr lang="hu-HU" dirty="0"/>
              <a:t>! (</a:t>
            </a:r>
            <a:r>
              <a:rPr lang="hu-HU" dirty="0" err="1"/>
              <a:t>not</a:t>
            </a:r>
            <a:r>
              <a:rPr lang="hu-HU" dirty="0"/>
              <a:t>)</a:t>
            </a:r>
          </a:p>
          <a:p>
            <a:r>
              <a:rPr lang="hu-HU" dirty="0"/>
              <a:t>&amp;&amp; (és)</a:t>
            </a:r>
          </a:p>
          <a:p>
            <a:r>
              <a:rPr lang="hu-HU" dirty="0"/>
              <a:t>|| (vagy)</a:t>
            </a:r>
          </a:p>
        </p:txBody>
      </p:sp>
    </p:spTree>
    <p:extLst>
      <p:ext uri="{BB962C8B-B14F-4D97-AF65-F5344CB8AC3E}">
        <p14:creationId xmlns:p14="http://schemas.microsoft.com/office/powerpoint/2010/main" val="334420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BCD6B0-8B21-4141-907A-D2CF4182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Logikai operátorok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56FA47-5E2A-4343-8DB6-71957F263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7437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185</Words>
  <Application>Microsoft Office PowerPoint</Application>
  <PresentationFormat>Szélesvásznú</PresentationFormat>
  <Paragraphs>53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Office-téma</vt:lpstr>
      <vt:lpstr>Operátorok</vt:lpstr>
      <vt:lpstr>Menü:</vt:lpstr>
      <vt:lpstr>Aritmetikai operátorok </vt:lpstr>
      <vt:lpstr>Aritmetikai operátorok</vt:lpstr>
      <vt:lpstr>Értékadó operátorok</vt:lpstr>
      <vt:lpstr>Értékadó operátorok</vt:lpstr>
      <vt:lpstr>Összehasonlító (relációs) operátorok</vt:lpstr>
      <vt:lpstr>Összehasonlító operátorok</vt:lpstr>
      <vt:lpstr>Logikai operátorok</vt:lpstr>
      <vt:lpstr>Logikai operátorok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Operátorok</dc:title>
  <dc:creator>Moldovan Sebastian</dc:creator>
  <cp:lastModifiedBy>Moldovan Sebastian</cp:lastModifiedBy>
  <cp:revision>7</cp:revision>
  <dcterms:created xsi:type="dcterms:W3CDTF">2026-10-01T10:33:17Z</dcterms:created>
  <dcterms:modified xsi:type="dcterms:W3CDTF">2026-10-01T11:49:41Z</dcterms:modified>
</cp:coreProperties>
</file>